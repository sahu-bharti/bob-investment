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83" r:id="rId2"/>
    <p:sldId id="257" r:id="rId3"/>
    <p:sldId id="282" r:id="rId4"/>
    <p:sldId id="285" r:id="rId5"/>
    <p:sldId id="303" r:id="rId6"/>
    <p:sldId id="304" r:id="rId7"/>
    <p:sldId id="278" r:id="rId8"/>
    <p:sldId id="281" r:id="rId9"/>
    <p:sldId id="294" r:id="rId10"/>
    <p:sldId id="279" r:id="rId11"/>
    <p:sldId id="291" r:id="rId12"/>
    <p:sldId id="295" r:id="rId13"/>
    <p:sldId id="296" r:id="rId14"/>
    <p:sldId id="297" r:id="rId15"/>
    <p:sldId id="262" r:id="rId16"/>
    <p:sldId id="264" r:id="rId17"/>
    <p:sldId id="277" r:id="rId18"/>
    <p:sldId id="290" r:id="rId19"/>
    <p:sldId id="298" r:id="rId20"/>
    <p:sldId id="286" r:id="rId21"/>
    <p:sldId id="287" r:id="rId22"/>
    <p:sldId id="280" r:id="rId23"/>
    <p:sldId id="288" r:id="rId24"/>
    <p:sldId id="299" r:id="rId25"/>
    <p:sldId id="300" r:id="rId26"/>
    <p:sldId id="289" r:id="rId27"/>
    <p:sldId id="301" r:id="rId28"/>
    <p:sldId id="302" r:id="rId29"/>
    <p:sldId id="27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5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263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6176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1778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25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ahu-Bharti/Bob-Investment"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6075848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Bharti Sahu</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sahubharti1430@gmail.com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9359327368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Sequential Task Agent – Investment Analyst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142828" y="5226784"/>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B7146455-5821-4D52-892C-B25C6910AF47}"/>
              </a:ext>
            </a:extLst>
          </p:cNvPr>
          <p:cNvPicPr>
            <a:picLocks noChangeAspect="1"/>
          </p:cNvPicPr>
          <p:nvPr/>
        </p:nvPicPr>
        <p:blipFill>
          <a:blip r:embed="rId3"/>
          <a:stretch>
            <a:fillRect/>
          </a:stretch>
        </p:blipFill>
        <p:spPr>
          <a:xfrm>
            <a:off x="3988545" y="3648722"/>
            <a:ext cx="808820" cy="10515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Sequential Task Agent – Investment Analyst</a:t>
            </a:r>
            <a:endParaRPr lang="en-US" dirty="0"/>
          </a:p>
          <a:p>
            <a:pPr fontAlgn="base"/>
            <a:endParaRPr lang="en-US" b="1" dirty="0"/>
          </a:p>
          <a:p>
            <a:pPr fontAlgn="base"/>
            <a:r>
              <a:rPr lang="en-US" b="1" dirty="0"/>
              <a:t>The Challenge</a:t>
            </a:r>
            <a:r>
              <a:rPr lang="en-US" dirty="0"/>
              <a:t> </a:t>
            </a:r>
          </a:p>
          <a:p>
            <a:pPr algn="just" fontAlgn="base"/>
            <a:r>
              <a:rPr lang="en-US" dirty="0"/>
              <a:t>Investment analysts need to process multiple layers of information—financial reports, stock performance data, market news, and analyst opinions. Much of this information is fragmented and requires a sequence of tasks (data gathering, validation, analysis, comparison, and reporting) to generate useful insights. Manual workflows are time-consuming and prone to errors. The challenge is not just to collect market data but to automate sequential tasks that lead to actionable investment recommendations. </a:t>
            </a:r>
          </a:p>
          <a:p>
            <a:pPr algn="just" fontAlgn="base"/>
            <a:endParaRPr lang="en-US" dirty="0"/>
          </a:p>
          <a:p>
            <a:pPr fontAlgn="base"/>
            <a:r>
              <a:rPr lang="en-US" b="1" dirty="0"/>
              <a:t>The Objective</a:t>
            </a:r>
            <a:r>
              <a:rPr lang="en-US" dirty="0"/>
              <a:t> </a:t>
            </a:r>
          </a:p>
          <a:p>
            <a:pPr algn="just" fontAlgn="base"/>
            <a:r>
              <a:rPr lang="en-US" dirty="0"/>
              <a:t>Build a </a:t>
            </a:r>
            <a:r>
              <a:rPr lang="en-US" b="1" dirty="0"/>
              <a:t>Sequential Task Agent </a:t>
            </a:r>
            <a:r>
              <a:rPr lang="en-US" dirty="0"/>
              <a:t>that acts as an intelligent investment analyst. The solution should: </a:t>
            </a:r>
          </a:p>
          <a:p>
            <a:pPr algn="just" fontAlgn="base"/>
            <a:r>
              <a:rPr lang="en-US" dirty="0"/>
              <a:t>1. </a:t>
            </a:r>
            <a:r>
              <a:rPr lang="en-US" b="1" dirty="0"/>
              <a:t>Automate Data Gathering: </a:t>
            </a:r>
            <a:r>
              <a:rPr lang="en-US" dirty="0"/>
              <a:t>Collect financial data from multiple trusted sources such as company reports, stock exchanges, and market news feeds.</a:t>
            </a:r>
          </a:p>
          <a:p>
            <a:pPr algn="just" fontAlgn="base"/>
            <a:r>
              <a:rPr lang="en-US" dirty="0"/>
              <a:t>2. </a:t>
            </a:r>
            <a:r>
              <a:rPr lang="en-US" b="1" dirty="0"/>
              <a:t>Perform Multi-Step Analysis</a:t>
            </a:r>
            <a:r>
              <a:rPr lang="en-US" dirty="0"/>
              <a:t>: Sequentially process data (e.g., extract KPIs → calculate financial ratios → benchmark against competitors → analyze market sentiment). </a:t>
            </a:r>
          </a:p>
          <a:p>
            <a:pPr algn="just" fontAlgn="base"/>
            <a:r>
              <a:rPr lang="en-US" dirty="0"/>
              <a:t>3. </a:t>
            </a:r>
            <a:r>
              <a:rPr lang="en-US" b="1" dirty="0"/>
              <a:t>Generate Predictive Insights: </a:t>
            </a:r>
            <a:r>
              <a:rPr lang="en-US" dirty="0"/>
              <a:t>Identify trends, detect risks, and provide forward-looking recommendations (e.g., “Stock X shows declining margins—consider underweighting in portfolio”). </a:t>
            </a:r>
          </a:p>
          <a:p>
            <a:pPr algn="just" fontAlgn="base"/>
            <a:r>
              <a:rPr lang="en-US" dirty="0"/>
              <a:t>4. </a:t>
            </a:r>
            <a:r>
              <a:rPr lang="en-US" b="1" dirty="0"/>
              <a:t>Deliver Structured Reports</a:t>
            </a:r>
            <a:r>
              <a:rPr lang="en-US" dirty="0"/>
              <a:t>: Provide an easy-to-understand dashboard with investment summaries, trend charts, risk indicators, and AI-generated recommendations. </a:t>
            </a:r>
          </a:p>
          <a:p>
            <a:pPr fontAlgn="base"/>
            <a:endParaRPr lang="en-US" dirty="0"/>
          </a:p>
          <a:p>
            <a:pPr fontAlgn="base"/>
            <a:r>
              <a:rPr lang="en-US" b="1" dirty="0"/>
              <a:t>Tech Stack (Mandatory) </a:t>
            </a:r>
          </a:p>
          <a:p>
            <a:pPr fontAlgn="base"/>
            <a:r>
              <a:rPr lang="en-US" dirty="0"/>
              <a:t>• IBM Bob + IBM Cloud + IBM Granite .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182372" y="1272540"/>
            <a:ext cx="10607040" cy="4616648"/>
          </a:xfrm>
          <a:prstGeom prst="rect">
            <a:avLst/>
          </a:prstGeom>
          <a:noFill/>
        </p:spPr>
        <p:txBody>
          <a:bodyPr wrap="square" rtlCol="0">
            <a:spAutoFit/>
          </a:bodyPr>
          <a:lstStyle/>
          <a:p>
            <a:pPr fontAlgn="base"/>
            <a:endParaRPr lang="en-US" b="1" dirty="0"/>
          </a:p>
          <a:p>
            <a:r>
              <a:rPr lang="en-US" b="1" dirty="0"/>
              <a:t>Proposed Solution: AI-Powered Sequential Task Agent – Investment Analyst</a:t>
            </a:r>
            <a:endParaRPr lang="en-US" dirty="0"/>
          </a:p>
          <a:p>
            <a:r>
              <a:rPr lang="en-US" dirty="0"/>
              <a:t>The proposed solution is to develop an AI-powered Sequential Task Agent using IBM Bob, IBM Cloud, and IBM Granite LLM that automates the investment research and analysis process. The system collects financial information from multiple sources, validates the collected data, performs sequential financial analysis, identifies market risks, and generates evidence-based investment insights through an interactive dashboard.</a:t>
            </a:r>
          </a:p>
          <a:p>
            <a:r>
              <a:rPr lang="en-US" b="1" dirty="0"/>
              <a:t>Key Innovation of the Proposed Solution</a:t>
            </a:r>
          </a:p>
          <a:p>
            <a:r>
              <a:rPr lang="en-US" dirty="0"/>
              <a:t>The main innovation is the integration of </a:t>
            </a:r>
            <a:r>
              <a:rPr lang="en-US" b="1" dirty="0"/>
              <a:t>Sequential Task Automation + Multi-Agent AI + IBM Granite LLM </a:t>
            </a:r>
            <a:r>
              <a:rPr lang="en-US" dirty="0"/>
              <a:t>into a single investment research workflow.</a:t>
            </a:r>
          </a:p>
          <a:p>
            <a:r>
              <a:rPr lang="en-US" dirty="0"/>
              <a:t>Unlike a conventional financial chatbot that simply answers questions, the proposed system executes a complete sequence:</a:t>
            </a:r>
          </a:p>
          <a:p>
            <a:r>
              <a:rPr lang="en-US" b="1" dirty="0"/>
              <a:t>Collect → Validate → Extract → Calculate → Compare → Analyze → Predict → Recommend → Report</a:t>
            </a:r>
          </a:p>
          <a:p>
            <a:r>
              <a:rPr lang="en-US" dirty="0"/>
              <a:t>This makes the application an intelligent investment research assistant rather than just a financial information retrieval system.</a:t>
            </a:r>
          </a:p>
          <a:p>
            <a:r>
              <a:rPr lang="en-US" b="1" dirty="0"/>
              <a:t>Expected Outcomes</a:t>
            </a:r>
          </a:p>
          <a:p>
            <a:pPr>
              <a:buFont typeface="+mj-lt"/>
              <a:buAutoNum type="arabicPeriod"/>
            </a:pPr>
            <a:r>
              <a:rPr lang="en-US" dirty="0"/>
              <a:t>Reduced manual effort in investment research and financial analysis.</a:t>
            </a:r>
          </a:p>
          <a:p>
            <a:pPr>
              <a:buFont typeface="+mj-lt"/>
              <a:buAutoNum type="arabicPeriod"/>
            </a:pPr>
            <a:r>
              <a:rPr lang="en-US" dirty="0"/>
              <a:t>Automated sequential processing of fragmented financial information.</a:t>
            </a:r>
          </a:p>
          <a:p>
            <a:pPr>
              <a:buFont typeface="+mj-lt"/>
              <a:buAutoNum type="arabicPeriod"/>
            </a:pPr>
            <a:r>
              <a:rPr lang="en-US" dirty="0"/>
              <a:t>Improved consistency and accuracy through data validation.</a:t>
            </a:r>
          </a:p>
          <a:p>
            <a:pPr>
              <a:buFont typeface="+mj-lt"/>
              <a:buAutoNum type="arabicPeriod"/>
            </a:pPr>
            <a:r>
              <a:rPr lang="en-US" dirty="0"/>
              <a:t>Faster identification of financial risks and market trends.</a:t>
            </a:r>
          </a:p>
          <a:p>
            <a:pPr>
              <a:buFont typeface="+mj-lt"/>
              <a:buAutoNum type="arabicPeriod"/>
            </a:pPr>
            <a:r>
              <a:rPr lang="en-US" dirty="0"/>
              <a:t>Intelligent competitor benchmarking and performance comparison.</a:t>
            </a:r>
          </a:p>
          <a:p>
            <a:pPr>
              <a:buFont typeface="+mj-lt"/>
              <a:buAutoNum type="arabicPeriod"/>
            </a:pPr>
            <a:r>
              <a:rPr lang="en-US" dirty="0"/>
              <a:t>Explainable, evidence-based investment research reports.</a:t>
            </a:r>
          </a:p>
          <a:p>
            <a:pPr>
              <a:buFont typeface="+mj-lt"/>
              <a:buAutoNum type="arabicPeriod"/>
            </a:pPr>
            <a:r>
              <a:rPr lang="en-US" dirty="0"/>
              <a:t>An integrated AI-powered investment decision-support platform.</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graphicFrame>
        <p:nvGraphicFramePr>
          <p:cNvPr id="4" name="Table 3">
            <a:extLst>
              <a:ext uri="{FF2B5EF4-FFF2-40B4-BE49-F238E27FC236}">
                <a16:creationId xmlns:a16="http://schemas.microsoft.com/office/drawing/2014/main" id="{E98D603C-C3DC-47E3-A7F5-B7C83F26E997}"/>
              </a:ext>
            </a:extLst>
          </p:cNvPr>
          <p:cNvGraphicFramePr>
            <a:graphicFrameLocks noGrp="1"/>
          </p:cNvGraphicFramePr>
          <p:nvPr>
            <p:extLst>
              <p:ext uri="{D42A27DB-BD31-4B8C-83A1-F6EECF244321}">
                <p14:modId xmlns:p14="http://schemas.microsoft.com/office/powerpoint/2010/main" val="2134601820"/>
              </p:ext>
            </p:extLst>
          </p:nvPr>
        </p:nvGraphicFramePr>
        <p:xfrm>
          <a:off x="812800" y="1943364"/>
          <a:ext cx="9512300" cy="3048000"/>
        </p:xfrm>
        <a:graphic>
          <a:graphicData uri="http://schemas.openxmlformats.org/drawingml/2006/table">
            <a:tbl>
              <a:tblPr/>
              <a:tblGrid>
                <a:gridCol w="4756150">
                  <a:extLst>
                    <a:ext uri="{9D8B030D-6E8A-4147-A177-3AD203B41FA5}">
                      <a16:colId xmlns:a16="http://schemas.microsoft.com/office/drawing/2014/main" val="2357956255"/>
                    </a:ext>
                  </a:extLst>
                </a:gridCol>
                <a:gridCol w="4756150">
                  <a:extLst>
                    <a:ext uri="{9D8B030D-6E8A-4147-A177-3AD203B41FA5}">
                      <a16:colId xmlns:a16="http://schemas.microsoft.com/office/drawing/2014/main" val="2112860682"/>
                    </a:ext>
                  </a:extLst>
                </a:gridCol>
              </a:tblGrid>
              <a:tr h="268288">
                <a:tc>
                  <a:txBody>
                    <a:bodyPr/>
                    <a:lstStyle/>
                    <a:p>
                      <a:r>
                        <a:rPr lang="en-IN"/>
                        <a:t>Technology</a:t>
                      </a:r>
                    </a:p>
                  </a:txBody>
                  <a:tcPr anchor="ctr">
                    <a:lnL>
                      <a:noFill/>
                    </a:lnL>
                    <a:lnR>
                      <a:noFill/>
                    </a:lnR>
                    <a:lnT>
                      <a:noFill/>
                    </a:lnT>
                    <a:lnB>
                      <a:noFill/>
                    </a:lnB>
                  </a:tcPr>
                </a:tc>
                <a:tc>
                  <a:txBody>
                    <a:bodyPr/>
                    <a:lstStyle/>
                    <a:p>
                      <a:r>
                        <a:rPr lang="en-IN"/>
                        <a:t>Proposed application</a:t>
                      </a:r>
                    </a:p>
                  </a:txBody>
                  <a:tcPr anchor="ctr">
                    <a:lnL>
                      <a:noFill/>
                    </a:lnL>
                    <a:lnR>
                      <a:noFill/>
                    </a:lnR>
                    <a:lnT>
                      <a:noFill/>
                    </a:lnT>
                    <a:lnB>
                      <a:noFill/>
                    </a:lnB>
                  </a:tcPr>
                </a:tc>
                <a:extLst>
                  <a:ext uri="{0D108BD9-81ED-4DB2-BD59-A6C34878D82A}">
                    <a16:rowId xmlns:a16="http://schemas.microsoft.com/office/drawing/2014/main" val="1597866775"/>
                  </a:ext>
                </a:extLst>
              </a:tr>
              <a:tr h="268288">
                <a:tc>
                  <a:txBody>
                    <a:bodyPr/>
                    <a:lstStyle/>
                    <a:p>
                      <a:r>
                        <a:rPr lang="en-IN"/>
                        <a:t>IBM Bob</a:t>
                      </a:r>
                    </a:p>
                  </a:txBody>
                  <a:tcPr anchor="ctr">
                    <a:lnL>
                      <a:noFill/>
                    </a:lnL>
                    <a:lnR>
                      <a:noFill/>
                    </a:lnR>
                    <a:lnT>
                      <a:noFill/>
                    </a:lnT>
                    <a:lnB>
                      <a:noFill/>
                    </a:lnB>
                  </a:tcPr>
                </a:tc>
                <a:tc>
                  <a:txBody>
                    <a:bodyPr/>
                    <a:lstStyle/>
                    <a:p>
                      <a:r>
                        <a:rPr lang="en-IN"/>
                        <a:t>Development, debugging and testing</a:t>
                      </a:r>
                    </a:p>
                  </a:txBody>
                  <a:tcPr anchor="ctr">
                    <a:lnL>
                      <a:noFill/>
                    </a:lnL>
                    <a:lnR>
                      <a:noFill/>
                    </a:lnR>
                    <a:lnT>
                      <a:noFill/>
                    </a:lnT>
                    <a:lnB>
                      <a:noFill/>
                    </a:lnB>
                  </a:tcPr>
                </a:tc>
                <a:extLst>
                  <a:ext uri="{0D108BD9-81ED-4DB2-BD59-A6C34878D82A}">
                    <a16:rowId xmlns:a16="http://schemas.microsoft.com/office/drawing/2014/main" val="2248130720"/>
                  </a:ext>
                </a:extLst>
              </a:tr>
              <a:tr h="268288">
                <a:tc>
                  <a:txBody>
                    <a:bodyPr/>
                    <a:lstStyle/>
                    <a:p>
                      <a:r>
                        <a:rPr lang="en-IN" dirty="0"/>
                        <a:t>IBM Cloud</a:t>
                      </a:r>
                    </a:p>
                  </a:txBody>
                  <a:tcPr anchor="ctr">
                    <a:lnL>
                      <a:noFill/>
                    </a:lnL>
                    <a:lnR>
                      <a:noFill/>
                    </a:lnR>
                    <a:lnT>
                      <a:noFill/>
                    </a:lnT>
                    <a:lnB>
                      <a:noFill/>
                    </a:lnB>
                  </a:tcPr>
                </a:tc>
                <a:tc>
                  <a:txBody>
                    <a:bodyPr/>
                    <a:lstStyle/>
                    <a:p>
                      <a:r>
                        <a:rPr lang="en-US"/>
                        <a:t>Hosting, deployment and cloud services</a:t>
                      </a:r>
                    </a:p>
                  </a:txBody>
                  <a:tcPr anchor="ctr">
                    <a:lnL>
                      <a:noFill/>
                    </a:lnL>
                    <a:lnR>
                      <a:noFill/>
                    </a:lnR>
                    <a:lnT>
                      <a:noFill/>
                    </a:lnT>
                    <a:lnB>
                      <a:noFill/>
                    </a:lnB>
                  </a:tcPr>
                </a:tc>
                <a:extLst>
                  <a:ext uri="{0D108BD9-81ED-4DB2-BD59-A6C34878D82A}">
                    <a16:rowId xmlns:a16="http://schemas.microsoft.com/office/drawing/2014/main" val="3881474229"/>
                  </a:ext>
                </a:extLst>
              </a:tr>
              <a:tr h="268288">
                <a:tc>
                  <a:txBody>
                    <a:bodyPr/>
                    <a:lstStyle/>
                    <a:p>
                      <a:r>
                        <a:rPr lang="en-IN"/>
                        <a:t>IBM Granite LLM</a:t>
                      </a:r>
                    </a:p>
                  </a:txBody>
                  <a:tcPr anchor="ctr">
                    <a:lnL>
                      <a:noFill/>
                    </a:lnL>
                    <a:lnR>
                      <a:noFill/>
                    </a:lnR>
                    <a:lnT>
                      <a:noFill/>
                    </a:lnT>
                    <a:lnB>
                      <a:noFill/>
                    </a:lnB>
                  </a:tcPr>
                </a:tc>
                <a:tc>
                  <a:txBody>
                    <a:bodyPr/>
                    <a:lstStyle/>
                    <a:p>
                      <a:r>
                        <a:rPr lang="en-US"/>
                        <a:t>Financial document understanding and AI reasoning</a:t>
                      </a:r>
                    </a:p>
                  </a:txBody>
                  <a:tcPr anchor="ctr">
                    <a:lnL>
                      <a:noFill/>
                    </a:lnL>
                    <a:lnR>
                      <a:noFill/>
                    </a:lnR>
                    <a:lnT>
                      <a:noFill/>
                    </a:lnT>
                    <a:lnB>
                      <a:noFill/>
                    </a:lnB>
                  </a:tcPr>
                </a:tc>
                <a:extLst>
                  <a:ext uri="{0D108BD9-81ED-4DB2-BD59-A6C34878D82A}">
                    <a16:rowId xmlns:a16="http://schemas.microsoft.com/office/drawing/2014/main" val="1707739139"/>
                  </a:ext>
                </a:extLst>
              </a:tr>
              <a:tr h="268288">
                <a:tc>
                  <a:txBody>
                    <a:bodyPr/>
                    <a:lstStyle/>
                    <a:p>
                      <a:r>
                        <a:rPr lang="en-IN"/>
                        <a:t>Python</a:t>
                      </a:r>
                    </a:p>
                  </a:txBody>
                  <a:tcPr anchor="ctr">
                    <a:lnL>
                      <a:noFill/>
                    </a:lnL>
                    <a:lnR>
                      <a:noFill/>
                    </a:lnR>
                    <a:lnT>
                      <a:noFill/>
                    </a:lnT>
                    <a:lnB>
                      <a:noFill/>
                    </a:lnB>
                  </a:tcPr>
                </a:tc>
                <a:tc>
                  <a:txBody>
                    <a:bodyPr/>
                    <a:lstStyle/>
                    <a:p>
                      <a:r>
                        <a:rPr lang="en-US"/>
                        <a:t>Sequential agent execution and financial calculations</a:t>
                      </a:r>
                    </a:p>
                  </a:txBody>
                  <a:tcPr anchor="ctr">
                    <a:lnL>
                      <a:noFill/>
                    </a:lnL>
                    <a:lnR>
                      <a:noFill/>
                    </a:lnR>
                    <a:lnT>
                      <a:noFill/>
                    </a:lnT>
                    <a:lnB>
                      <a:noFill/>
                    </a:lnB>
                  </a:tcPr>
                </a:tc>
                <a:extLst>
                  <a:ext uri="{0D108BD9-81ED-4DB2-BD59-A6C34878D82A}">
                    <a16:rowId xmlns:a16="http://schemas.microsoft.com/office/drawing/2014/main" val="3792427089"/>
                  </a:ext>
                </a:extLst>
              </a:tr>
              <a:tr h="268288">
                <a:tc>
                  <a:txBody>
                    <a:bodyPr/>
                    <a:lstStyle/>
                    <a:p>
                      <a:r>
                        <a:rPr lang="en-IN"/>
                        <a:t>Streamlit</a:t>
                      </a:r>
                    </a:p>
                  </a:txBody>
                  <a:tcPr anchor="ctr">
                    <a:lnL>
                      <a:noFill/>
                    </a:lnL>
                    <a:lnR>
                      <a:noFill/>
                    </a:lnR>
                    <a:lnT>
                      <a:noFill/>
                    </a:lnT>
                    <a:lnB>
                      <a:noFill/>
                    </a:lnB>
                  </a:tcPr>
                </a:tc>
                <a:tc>
                  <a:txBody>
                    <a:bodyPr/>
                    <a:lstStyle/>
                    <a:p>
                      <a:r>
                        <a:rPr lang="en-IN"/>
                        <a:t>Interactive dashboard</a:t>
                      </a:r>
                    </a:p>
                  </a:txBody>
                  <a:tcPr anchor="ctr">
                    <a:lnL>
                      <a:noFill/>
                    </a:lnL>
                    <a:lnR>
                      <a:noFill/>
                    </a:lnR>
                    <a:lnT>
                      <a:noFill/>
                    </a:lnT>
                    <a:lnB>
                      <a:noFill/>
                    </a:lnB>
                  </a:tcPr>
                </a:tc>
                <a:extLst>
                  <a:ext uri="{0D108BD9-81ED-4DB2-BD59-A6C34878D82A}">
                    <a16:rowId xmlns:a16="http://schemas.microsoft.com/office/drawing/2014/main" val="1351332261"/>
                  </a:ext>
                </a:extLst>
              </a:tr>
              <a:tr h="268288">
                <a:tc>
                  <a:txBody>
                    <a:bodyPr/>
                    <a:lstStyle/>
                    <a:p>
                      <a:r>
                        <a:rPr lang="en-IN"/>
                        <a:t>Pandas, NumPy</a:t>
                      </a:r>
                    </a:p>
                  </a:txBody>
                  <a:tcPr anchor="ctr">
                    <a:lnL>
                      <a:noFill/>
                    </a:lnL>
                    <a:lnR>
                      <a:noFill/>
                    </a:lnR>
                    <a:lnT>
                      <a:noFill/>
                    </a:lnT>
                    <a:lnB>
                      <a:noFill/>
                    </a:lnB>
                  </a:tcPr>
                </a:tc>
                <a:tc>
                  <a:txBody>
                    <a:bodyPr/>
                    <a:lstStyle/>
                    <a:p>
                      <a:r>
                        <a:rPr lang="en-US"/>
                        <a:t>Data processing and financial calculations</a:t>
                      </a:r>
                    </a:p>
                  </a:txBody>
                  <a:tcPr anchor="ctr">
                    <a:lnL>
                      <a:noFill/>
                    </a:lnL>
                    <a:lnR>
                      <a:noFill/>
                    </a:lnR>
                    <a:lnT>
                      <a:noFill/>
                    </a:lnT>
                    <a:lnB>
                      <a:noFill/>
                    </a:lnB>
                  </a:tcPr>
                </a:tc>
                <a:extLst>
                  <a:ext uri="{0D108BD9-81ED-4DB2-BD59-A6C34878D82A}">
                    <a16:rowId xmlns:a16="http://schemas.microsoft.com/office/drawing/2014/main" val="1769251853"/>
                  </a:ext>
                </a:extLst>
              </a:tr>
              <a:tr h="268288">
                <a:tc>
                  <a:txBody>
                    <a:bodyPr/>
                    <a:lstStyle/>
                    <a:p>
                      <a:r>
                        <a:rPr lang="en-IN"/>
                        <a:t>Plotly</a:t>
                      </a:r>
                    </a:p>
                  </a:txBody>
                  <a:tcPr anchor="ctr">
                    <a:lnL>
                      <a:noFill/>
                    </a:lnL>
                    <a:lnR>
                      <a:noFill/>
                    </a:lnR>
                    <a:lnT>
                      <a:noFill/>
                    </a:lnT>
                    <a:lnB>
                      <a:noFill/>
                    </a:lnB>
                  </a:tcPr>
                </a:tc>
                <a:tc>
                  <a:txBody>
                    <a:bodyPr/>
                    <a:lstStyle/>
                    <a:p>
                      <a:r>
                        <a:rPr lang="en-IN"/>
                        <a:t>Financial visualization</a:t>
                      </a:r>
                    </a:p>
                  </a:txBody>
                  <a:tcPr anchor="ctr">
                    <a:lnL>
                      <a:noFill/>
                    </a:lnL>
                    <a:lnR>
                      <a:noFill/>
                    </a:lnR>
                    <a:lnT>
                      <a:noFill/>
                    </a:lnT>
                    <a:lnB>
                      <a:noFill/>
                    </a:lnB>
                  </a:tcPr>
                </a:tc>
                <a:extLst>
                  <a:ext uri="{0D108BD9-81ED-4DB2-BD59-A6C34878D82A}">
                    <a16:rowId xmlns:a16="http://schemas.microsoft.com/office/drawing/2014/main" val="672001435"/>
                  </a:ext>
                </a:extLst>
              </a:tr>
              <a:tr h="268288">
                <a:tc>
                  <a:txBody>
                    <a:bodyPr/>
                    <a:lstStyle/>
                    <a:p>
                      <a:r>
                        <a:rPr lang="en-IN"/>
                        <a:t>XGBoost / LSTM</a:t>
                      </a:r>
                    </a:p>
                  </a:txBody>
                  <a:tcPr anchor="ctr">
                    <a:lnL>
                      <a:noFill/>
                    </a:lnL>
                    <a:lnR>
                      <a:noFill/>
                    </a:lnR>
                    <a:lnT>
                      <a:noFill/>
                    </a:lnT>
                    <a:lnB>
                      <a:noFill/>
                    </a:lnB>
                  </a:tcPr>
                </a:tc>
                <a:tc>
                  <a:txBody>
                    <a:bodyPr/>
                    <a:lstStyle/>
                    <a:p>
                      <a:r>
                        <a:rPr lang="en-IN"/>
                        <a:t>Predictive analytics</a:t>
                      </a:r>
                    </a:p>
                  </a:txBody>
                  <a:tcPr anchor="ctr">
                    <a:lnL>
                      <a:noFill/>
                    </a:lnL>
                    <a:lnR>
                      <a:noFill/>
                    </a:lnR>
                    <a:lnT>
                      <a:noFill/>
                    </a:lnT>
                    <a:lnB>
                      <a:noFill/>
                    </a:lnB>
                  </a:tcPr>
                </a:tc>
                <a:extLst>
                  <a:ext uri="{0D108BD9-81ED-4DB2-BD59-A6C34878D82A}">
                    <a16:rowId xmlns:a16="http://schemas.microsoft.com/office/drawing/2014/main" val="1389727192"/>
                  </a:ext>
                </a:extLst>
              </a:tr>
              <a:tr h="268288">
                <a:tc>
                  <a:txBody>
                    <a:bodyPr/>
                    <a:lstStyle/>
                    <a:p>
                      <a:r>
                        <a:rPr lang="en-IN" dirty="0"/>
                        <a:t>Financial APIs</a:t>
                      </a:r>
                    </a:p>
                  </a:txBody>
                  <a:tcPr anchor="ctr">
                    <a:lnL>
                      <a:noFill/>
                    </a:lnL>
                    <a:lnR>
                      <a:noFill/>
                    </a:lnR>
                    <a:lnT>
                      <a:noFill/>
                    </a:lnT>
                    <a:lnB>
                      <a:noFill/>
                    </a:lnB>
                  </a:tcPr>
                </a:tc>
                <a:tc>
                  <a:txBody>
                    <a:bodyPr/>
                    <a:lstStyle/>
                    <a:p>
                      <a:r>
                        <a:rPr lang="en-US" dirty="0"/>
                        <a:t>Market and company data collection</a:t>
                      </a:r>
                    </a:p>
                  </a:txBody>
                  <a:tcPr anchor="ctr">
                    <a:lnL>
                      <a:noFill/>
                    </a:lnL>
                    <a:lnR>
                      <a:noFill/>
                    </a:lnR>
                    <a:lnT>
                      <a:noFill/>
                    </a:lnT>
                    <a:lnB>
                      <a:noFill/>
                    </a:lnB>
                  </a:tcPr>
                </a:tc>
                <a:extLst>
                  <a:ext uri="{0D108BD9-81ED-4DB2-BD59-A6C34878D82A}">
                    <a16:rowId xmlns:a16="http://schemas.microsoft.com/office/drawing/2014/main" val="2361422788"/>
                  </a:ext>
                </a:extLst>
              </a:tr>
            </a:tbl>
          </a:graphicData>
        </a:graphic>
      </p:graphicFrame>
      <p:sp>
        <p:nvSpPr>
          <p:cNvPr id="5" name="Rectangle 1">
            <a:extLst>
              <a:ext uri="{FF2B5EF4-FFF2-40B4-BE49-F238E27FC236}">
                <a16:creationId xmlns:a16="http://schemas.microsoft.com/office/drawing/2014/main" id="{669E9197-C5F6-4BA4-8538-81DC8BB45683}"/>
              </a:ext>
            </a:extLst>
          </p:cNvPr>
          <p:cNvSpPr>
            <a:spLocks noChangeArrowheads="1"/>
          </p:cNvSpPr>
          <p:nvPr/>
        </p:nvSpPr>
        <p:spPr bwMode="auto">
          <a:xfrm>
            <a:off x="812800" y="148616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Technology Implementation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4168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
        <p:nvSpPr>
          <p:cNvPr id="6" name="TextBox 5">
            <a:extLst>
              <a:ext uri="{FF2B5EF4-FFF2-40B4-BE49-F238E27FC236}">
                <a16:creationId xmlns:a16="http://schemas.microsoft.com/office/drawing/2014/main" id="{83538255-4121-417A-A5C2-E9CE528D6CED}"/>
              </a:ext>
            </a:extLst>
          </p:cNvPr>
          <p:cNvSpPr txBox="1"/>
          <p:nvPr/>
        </p:nvSpPr>
        <p:spPr>
          <a:xfrm>
            <a:off x="977900" y="1447681"/>
            <a:ext cx="6096000" cy="1600438"/>
          </a:xfrm>
          <a:prstGeom prst="rect">
            <a:avLst/>
          </a:prstGeom>
          <a:noFill/>
        </p:spPr>
        <p:txBody>
          <a:bodyPr wrap="square">
            <a:spAutoFit/>
          </a:bodyPr>
          <a:lstStyle/>
          <a:p>
            <a:r>
              <a:rPr lang="en-US" b="1" dirty="0"/>
              <a:t>Explainable and Responsible AI</a:t>
            </a:r>
          </a:p>
          <a:p>
            <a:pPr>
              <a:buFont typeface="Arial" panose="020B0604020202020204" pitchFamily="34" charset="0"/>
              <a:buChar char="•"/>
            </a:pPr>
            <a:r>
              <a:rPr lang="en-US" dirty="0"/>
              <a:t>Display the sources used for financial analysis.</a:t>
            </a:r>
          </a:p>
          <a:p>
            <a:pPr>
              <a:buFont typeface="Arial" panose="020B0604020202020204" pitchFamily="34" charset="0"/>
              <a:buChar char="•"/>
            </a:pPr>
            <a:r>
              <a:rPr lang="en-US" dirty="0"/>
              <a:t>Distinguish actual financial figures from AI-generated interpretations.</a:t>
            </a:r>
          </a:p>
          <a:p>
            <a:pPr>
              <a:buFont typeface="Arial" panose="020B0604020202020204" pitchFamily="34" charset="0"/>
              <a:buChar char="•"/>
            </a:pPr>
            <a:r>
              <a:rPr lang="en-US" dirty="0"/>
              <a:t>Validate all numerical calculations using Python.</a:t>
            </a:r>
          </a:p>
          <a:p>
            <a:pPr>
              <a:buFont typeface="Arial" panose="020B0604020202020204" pitchFamily="34" charset="0"/>
              <a:buChar char="•"/>
            </a:pPr>
            <a:r>
              <a:rPr lang="en-US" dirty="0"/>
              <a:t>Prevent unsupported investment recommendations.</a:t>
            </a:r>
          </a:p>
          <a:p>
            <a:pPr>
              <a:buFont typeface="Arial" panose="020B0604020202020204" pitchFamily="34" charset="0"/>
              <a:buChar char="•"/>
            </a:pPr>
            <a:r>
              <a:rPr lang="en-US" dirty="0"/>
              <a:t>Protect user information and API credentials.</a:t>
            </a:r>
          </a:p>
          <a:p>
            <a:pPr>
              <a:buFont typeface="Arial" panose="020B0604020202020204" pitchFamily="34" charset="0"/>
              <a:buChar char="•"/>
            </a:pPr>
            <a:r>
              <a:rPr lang="en-US" dirty="0"/>
              <a:t>Include risk disclosures and human review before investment decisions.</a:t>
            </a:r>
          </a:p>
        </p:txBody>
      </p:sp>
      <p:sp>
        <p:nvSpPr>
          <p:cNvPr id="8" name="TextBox 7">
            <a:extLst>
              <a:ext uri="{FF2B5EF4-FFF2-40B4-BE49-F238E27FC236}">
                <a16:creationId xmlns:a16="http://schemas.microsoft.com/office/drawing/2014/main" id="{D0063492-3BED-4DB4-BF10-7FFAF4A5AED4}"/>
              </a:ext>
            </a:extLst>
          </p:cNvPr>
          <p:cNvSpPr txBox="1"/>
          <p:nvPr/>
        </p:nvSpPr>
        <p:spPr>
          <a:xfrm>
            <a:off x="977900" y="3675888"/>
            <a:ext cx="7718044" cy="1600438"/>
          </a:xfrm>
          <a:prstGeom prst="rect">
            <a:avLst/>
          </a:prstGeom>
          <a:noFill/>
        </p:spPr>
        <p:txBody>
          <a:bodyPr wrap="square">
            <a:spAutoFit/>
          </a:bodyPr>
          <a:lstStyle/>
          <a:p>
            <a:r>
              <a:rPr lang="en-IN" b="1" dirty="0"/>
              <a:t>AI-Powered Financial Analysis Using IBM Granite</a:t>
            </a:r>
          </a:p>
          <a:p>
            <a:pPr>
              <a:buFont typeface="Arial" panose="020B0604020202020204" pitchFamily="34" charset="0"/>
              <a:buChar char="•"/>
            </a:pPr>
            <a:r>
              <a:rPr lang="en-IN" dirty="0"/>
              <a:t>Integrate IBM Granite LLM for understanding financial reports and market-related information.</a:t>
            </a:r>
          </a:p>
          <a:p>
            <a:pPr>
              <a:buFont typeface="Arial" panose="020B0604020202020204" pitchFamily="34" charset="0"/>
              <a:buChar char="•"/>
            </a:pPr>
            <a:r>
              <a:rPr lang="en-IN" dirty="0"/>
              <a:t>Extract important financial information from unstructured documents.</a:t>
            </a:r>
          </a:p>
          <a:p>
            <a:pPr>
              <a:buFont typeface="Arial" panose="020B0604020202020204" pitchFamily="34" charset="0"/>
              <a:buChar char="•"/>
            </a:pPr>
            <a:r>
              <a:rPr lang="en-IN" dirty="0"/>
              <a:t>Summarize company performance and financial announcements.</a:t>
            </a:r>
          </a:p>
          <a:p>
            <a:pPr>
              <a:buFont typeface="Arial" panose="020B0604020202020204" pitchFamily="34" charset="0"/>
              <a:buChar char="•"/>
            </a:pPr>
            <a:r>
              <a:rPr lang="en-IN" dirty="0" err="1"/>
              <a:t>Analyze</a:t>
            </a:r>
            <a:r>
              <a:rPr lang="en-IN" dirty="0"/>
              <a:t> positive, negative, and neutral market sentiment.</a:t>
            </a:r>
          </a:p>
          <a:p>
            <a:pPr>
              <a:buFont typeface="Arial" panose="020B0604020202020204" pitchFamily="34" charset="0"/>
              <a:buChar char="•"/>
            </a:pPr>
            <a:r>
              <a:rPr lang="en-IN" dirty="0"/>
              <a:t>Generate natural-language explanations of financial performance.</a:t>
            </a:r>
          </a:p>
          <a:p>
            <a:pPr>
              <a:buFont typeface="Arial" panose="020B0604020202020204" pitchFamily="34" charset="0"/>
              <a:buChar char="•"/>
            </a:pPr>
            <a:r>
              <a:rPr lang="en-IN" dirty="0"/>
              <a:t>Provide evidence-based investment research insights.</a:t>
            </a:r>
          </a:p>
        </p:txBody>
      </p:sp>
    </p:spTree>
    <p:extLst>
      <p:ext uri="{BB962C8B-B14F-4D97-AF65-F5344CB8AC3E}">
        <p14:creationId xmlns:p14="http://schemas.microsoft.com/office/powerpoint/2010/main" val="2023943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178BE84B-35DA-400D-9E99-784C4E4AD73F}"/>
              </a:ext>
            </a:extLst>
          </p:cNvPr>
          <p:cNvPicPr>
            <a:picLocks noChangeAspect="1"/>
          </p:cNvPicPr>
          <p:nvPr/>
        </p:nvPicPr>
        <p:blipFill>
          <a:blip r:embed="rId3"/>
          <a:stretch>
            <a:fillRect/>
          </a:stretch>
        </p:blipFill>
        <p:spPr>
          <a:xfrm>
            <a:off x="3080551" y="1029811"/>
            <a:ext cx="8904303" cy="5663328"/>
          </a:xfrm>
          <a:prstGeom prst="rect">
            <a:avLst/>
          </a:prstGeom>
        </p:spPr>
      </p:pic>
    </p:spTree>
    <p:extLst>
      <p:ext uri="{BB962C8B-B14F-4D97-AF65-F5344CB8AC3E}">
        <p14:creationId xmlns:p14="http://schemas.microsoft.com/office/powerpoint/2010/main" val="3075190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B32A22-3E29-476D-9C28-AEAB21D0088D}"/>
              </a:ext>
            </a:extLst>
          </p:cNvPr>
          <p:cNvPicPr>
            <a:picLocks noChangeAspect="1"/>
          </p:cNvPicPr>
          <p:nvPr/>
        </p:nvPicPr>
        <p:blipFill>
          <a:blip r:embed="rId2"/>
          <a:stretch>
            <a:fillRect/>
          </a:stretch>
        </p:blipFill>
        <p:spPr>
          <a:xfrm>
            <a:off x="606166" y="195308"/>
            <a:ext cx="10872662" cy="659585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17FC3E-0D9D-4E86-8B2F-A619EA5EA179}"/>
              </a:ext>
            </a:extLst>
          </p:cNvPr>
          <p:cNvPicPr>
            <a:picLocks noChangeAspect="1"/>
          </p:cNvPicPr>
          <p:nvPr/>
        </p:nvPicPr>
        <p:blipFill>
          <a:blip r:embed="rId2"/>
          <a:stretch>
            <a:fillRect/>
          </a:stretch>
        </p:blipFill>
        <p:spPr>
          <a:xfrm>
            <a:off x="517389" y="86557"/>
            <a:ext cx="10979669" cy="6684885"/>
          </a:xfrm>
          <a:prstGeom prst="rect">
            <a:avLst/>
          </a:prstGeom>
        </p:spPr>
      </p:pic>
    </p:spTree>
    <p:extLst>
      <p:ext uri="{BB962C8B-B14F-4D97-AF65-F5344CB8AC3E}">
        <p14:creationId xmlns:p14="http://schemas.microsoft.com/office/powerpoint/2010/main" val="158809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238FA-444F-4AC0-A0C0-48075B60AB8F}"/>
              </a:ext>
            </a:extLst>
          </p:cNvPr>
          <p:cNvPicPr>
            <a:picLocks noChangeAspect="1"/>
          </p:cNvPicPr>
          <p:nvPr/>
        </p:nvPicPr>
        <p:blipFill>
          <a:blip r:embed="rId2"/>
          <a:stretch>
            <a:fillRect/>
          </a:stretch>
        </p:blipFill>
        <p:spPr>
          <a:xfrm>
            <a:off x="606165" y="117629"/>
            <a:ext cx="10979669" cy="6622742"/>
          </a:xfrm>
          <a:prstGeom prst="rect">
            <a:avLst/>
          </a:prstGeom>
        </p:spPr>
      </p:pic>
    </p:spTree>
    <p:extLst>
      <p:ext uri="{BB962C8B-B14F-4D97-AF65-F5344CB8AC3E}">
        <p14:creationId xmlns:p14="http://schemas.microsoft.com/office/powerpoint/2010/main" val="2302187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EAA4F-EEAD-45CD-94B5-C729ADE9B9C2}"/>
              </a:ext>
            </a:extLst>
          </p:cNvPr>
          <p:cNvPicPr>
            <a:picLocks noChangeAspect="1"/>
          </p:cNvPicPr>
          <p:nvPr/>
        </p:nvPicPr>
        <p:blipFill>
          <a:blip r:embed="rId2"/>
          <a:stretch>
            <a:fillRect/>
          </a:stretch>
        </p:blipFill>
        <p:spPr>
          <a:xfrm>
            <a:off x="609027" y="159798"/>
            <a:ext cx="10973945" cy="6551720"/>
          </a:xfrm>
          <a:prstGeom prst="rect">
            <a:avLst/>
          </a:prstGeom>
        </p:spPr>
      </p:pic>
    </p:spTree>
    <p:extLst>
      <p:ext uri="{BB962C8B-B14F-4D97-AF65-F5344CB8AC3E}">
        <p14:creationId xmlns:p14="http://schemas.microsoft.com/office/powerpoint/2010/main" val="2541075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Investment Analysis</a:t>
            </a:r>
          </a:p>
          <a:p>
            <a:r>
              <a:rPr lang="en-US" dirty="0"/>
              <a:t>Agentic AI plays a central role in the proposed Sequential Task Agent – Investment Analyst by automating complex investment research activities through a sequence of intelligent, goal-oriented tasks. Instead of simply responding to user queries, the Agentic AI system independently coordinates multiple specialized agents to collect financial information, validate data, perform financial analysis, identify market trends, assess risks, and generate investment research reports.</a:t>
            </a:r>
          </a:p>
          <a:p>
            <a:r>
              <a:rPr lang="en-US" dirty="0"/>
              <a:t>Using IBM Granite LLM, IBM Bob, and IBM Cloud, the system provides intelligent task execution, decision support, and explainable financial insights.</a:t>
            </a:r>
          </a:p>
          <a:p>
            <a:endParaRPr lang="en-US" dirty="0"/>
          </a:p>
          <a:p>
            <a:r>
              <a:rPr lang="en-US" dirty="0"/>
              <a:t>The primary role of Agentic AI is to transform traditional manual investment research into an automated, sequential, intelligent, and explainable process. It improves research efficiency, reduces repetitive tasks, supports consistent financial analysis, and helps analysts make informed decisions through evidence-based investment insights.</a:t>
            </a:r>
          </a:p>
          <a:p>
            <a:endParaRPr lang="en-US" b="1" dirty="0"/>
          </a:p>
          <a:p>
            <a:endParaRPr lang="en-US" b="1" dirty="0"/>
          </a:p>
          <a:p>
            <a:r>
              <a:rPr lang="en-US" dirty="0"/>
              <a:t>Agentic AI = Autonomous Task Execution + Multi-Agent Collaboration + IBM Granite Intelligence + Evidence-Based Investment Analysis.</a:t>
            </a:r>
            <a:endParaRPr 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ED047F25-2B71-4724-8DB2-BFF5F9132C7A}"/>
              </a:ext>
            </a:extLst>
          </p:cNvPr>
          <p:cNvPicPr>
            <a:picLocks noChangeAspect="1"/>
          </p:cNvPicPr>
          <p:nvPr/>
        </p:nvPicPr>
        <p:blipFill>
          <a:blip r:embed="rId3"/>
          <a:stretch>
            <a:fillRect/>
          </a:stretch>
        </p:blipFill>
        <p:spPr>
          <a:xfrm>
            <a:off x="606165" y="1044262"/>
            <a:ext cx="10979669" cy="555184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83D072C-BDA7-49A1-8133-C36D30E891A9}"/>
              </a:ext>
            </a:extLst>
          </p:cNvPr>
          <p:cNvPicPr>
            <a:picLocks noChangeAspect="1"/>
          </p:cNvPicPr>
          <p:nvPr/>
        </p:nvPicPr>
        <p:blipFill>
          <a:blip r:embed="rId3"/>
          <a:stretch>
            <a:fillRect/>
          </a:stretch>
        </p:blipFill>
        <p:spPr>
          <a:xfrm>
            <a:off x="606165" y="834732"/>
            <a:ext cx="10979669" cy="5708112"/>
          </a:xfrm>
          <a:prstGeom prst="rect">
            <a:avLst/>
          </a:prstGeom>
        </p:spPr>
      </p:pic>
    </p:spTree>
    <p:extLst>
      <p:ext uri="{BB962C8B-B14F-4D97-AF65-F5344CB8AC3E}">
        <p14:creationId xmlns:p14="http://schemas.microsoft.com/office/powerpoint/2010/main" val="1275849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754874"/>
          </a:xfrm>
          <a:prstGeom prst="rect">
            <a:avLst/>
          </a:prstGeom>
          <a:noFill/>
        </p:spPr>
        <p:txBody>
          <a:bodyPr wrap="square" rtlCol="0">
            <a:spAutoFit/>
          </a:bodyPr>
          <a:lstStyle/>
          <a:p>
            <a:r>
              <a:rPr lang="en-US" dirty="0"/>
              <a:t>The novelty of the proposed solution lies in integrating Agentic AI, sequential task automation, IBM Granite LLM, and predictive financial analytics into a unified investment research platform. </a:t>
            </a:r>
          </a:p>
          <a:p>
            <a:r>
              <a:rPr lang="en-US" dirty="0"/>
              <a:t>1. </a:t>
            </a:r>
            <a:r>
              <a:rPr lang="en-US" b="1" dirty="0"/>
              <a:t>Sequential Multi-Agent Architecture</a:t>
            </a:r>
            <a:r>
              <a:rPr lang="en-US" dirty="0"/>
              <a:t>: Implements multiple specialized AI agents that execute investment research tasks in a predefined sequence, from financial data collection to final report generation.</a:t>
            </a:r>
          </a:p>
          <a:p>
            <a:r>
              <a:rPr lang="en-US" dirty="0"/>
              <a:t>2. </a:t>
            </a:r>
            <a:r>
              <a:rPr lang="en-US" b="1" dirty="0"/>
              <a:t>Integration of IBM Granite LLM</a:t>
            </a:r>
            <a:r>
              <a:rPr lang="en-US" dirty="0"/>
              <a:t>: Uses IBM Granite to understand financial documents, extract important financial information, analyze market news, and generate contextual investment insights.</a:t>
            </a:r>
          </a:p>
          <a:p>
            <a:r>
              <a:rPr lang="en-US" dirty="0"/>
              <a:t>3. </a:t>
            </a:r>
            <a:r>
              <a:rPr lang="en-US" b="1" dirty="0"/>
              <a:t>Automated Financial Data Validation</a:t>
            </a:r>
            <a:r>
              <a:rPr lang="en-US" dirty="0"/>
              <a:t>: Introduces a validation mechanism to identify missing, outdated, duplicate, and inconsistent financial information before performing analysis.</a:t>
            </a:r>
          </a:p>
          <a:p>
            <a:r>
              <a:rPr lang="en-US" dirty="0"/>
              <a:t>4. </a:t>
            </a:r>
            <a:r>
              <a:rPr lang="en-US" b="1" dirty="0"/>
              <a:t>Hybrid AI-Based Financial Analysis</a:t>
            </a:r>
            <a:r>
              <a:rPr lang="en-US" dirty="0"/>
              <a:t>: Combines deterministic financial calculations, machine learning algorithms, and LLM-based reasoning to provide comprehensive financial analysis.</a:t>
            </a:r>
          </a:p>
          <a:p>
            <a:r>
              <a:rPr lang="en-US" dirty="0"/>
              <a:t>5. </a:t>
            </a:r>
            <a:r>
              <a:rPr lang="en-US" b="1" dirty="0"/>
              <a:t>Integrated Market Sentiment and Risk Analysis</a:t>
            </a:r>
            <a:r>
              <a:rPr lang="en-US" dirty="0"/>
              <a:t>: Combines financial performance indicators with news sentiment and risk identification to provide a broader understanding of investment opportunities.</a:t>
            </a:r>
          </a:p>
          <a:p>
            <a:r>
              <a:rPr lang="en-US" dirty="0"/>
              <a:t>6. </a:t>
            </a:r>
            <a:r>
              <a:rPr lang="en-US" b="1" dirty="0"/>
              <a:t>Context-Aware Investment Insights</a:t>
            </a:r>
            <a:r>
              <a:rPr lang="en-US" dirty="0"/>
              <a:t>: Generates research outputs based on company performance, industry benchmarks, historical trends, and user-defined investment preferences.</a:t>
            </a:r>
          </a:p>
          <a:p>
            <a:r>
              <a:rPr lang="en-US" dirty="0"/>
              <a:t>7. </a:t>
            </a:r>
            <a:r>
              <a:rPr lang="en-US" b="1" dirty="0"/>
              <a:t>Explainable Investment Recommendations</a:t>
            </a:r>
            <a:r>
              <a:rPr lang="en-US" dirty="0"/>
              <a:t>: Provides supporting financial metrics, source references, assumptions, and risk factors behind AI-generated insights.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https://github.com/Sahu-Bharti/Bob-Investment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10019252" cy="4277001"/>
          </a:xfrm>
          <a:prstGeom prst="rect">
            <a:avLst/>
          </a:prstGeom>
          <a:noFill/>
          <a:ln>
            <a:noFill/>
          </a:ln>
        </p:spPr>
        <p:txBody>
          <a:bodyPr spcFirstLastPara="1" wrap="square" lIns="0" tIns="0" rIns="0" bIns="0" anchor="t" anchorCtr="0">
            <a:noAutofit/>
          </a:bodyPr>
          <a:lstStyle/>
          <a:p>
            <a:pPr algn="just"/>
            <a:r>
              <a:rPr lang="en-US" sz="1600" dirty="0"/>
              <a:t>1. </a:t>
            </a:r>
            <a:r>
              <a:rPr lang="en-US" sz="1600" b="1" dirty="0"/>
              <a:t>Real-Time Financial Data Integration</a:t>
            </a:r>
            <a:r>
              <a:rPr lang="en-US" sz="1600" dirty="0"/>
              <a:t>: Integrate live stock market APIs, stock exchange feeds, and financial news platforms to monitor market movements and company performance continuously.</a:t>
            </a:r>
          </a:p>
          <a:p>
            <a:pPr algn="just"/>
            <a:r>
              <a:rPr lang="en-US" sz="1600" dirty="0"/>
              <a:t>2. </a:t>
            </a:r>
            <a:r>
              <a:rPr lang="en-US" sz="1600" b="1" dirty="0"/>
              <a:t>Advanced Predictive Analytics</a:t>
            </a:r>
            <a:r>
              <a:rPr lang="en-US" sz="1600" dirty="0"/>
              <a:t>: Incorporate machine learning and deep learning models such as </a:t>
            </a:r>
            <a:r>
              <a:rPr lang="en-US" sz="1600" dirty="0" err="1"/>
              <a:t>XGBoost</a:t>
            </a:r>
            <a:r>
              <a:rPr lang="en-US" sz="1600" dirty="0"/>
              <a:t>, Random Forest, LSTM, and Transformers for stock trend forecasting and market volatility analysis.</a:t>
            </a:r>
          </a:p>
          <a:p>
            <a:pPr algn="just"/>
            <a:r>
              <a:rPr lang="en-US" sz="1600" dirty="0"/>
              <a:t>3. </a:t>
            </a:r>
            <a:r>
              <a:rPr lang="en-US" sz="1600" b="1" dirty="0"/>
              <a:t>Advanced Multi-Agent Collaboration</a:t>
            </a:r>
            <a:r>
              <a:rPr lang="en-US" sz="1600" dirty="0"/>
              <a:t>: Develop specialized autonomous agents for portfolio management, financial forecasting, market monitoring, competitor analysis, and risk assessment.</a:t>
            </a:r>
          </a:p>
          <a:p>
            <a:pPr algn="just"/>
            <a:r>
              <a:rPr lang="en-US" sz="1600" dirty="0"/>
              <a:t>4. </a:t>
            </a:r>
            <a:r>
              <a:rPr lang="en-US" sz="1600" b="1" dirty="0"/>
              <a:t>Intelligent Portfolio Optimization</a:t>
            </a:r>
            <a:r>
              <a:rPr lang="en-US" sz="1600" dirty="0"/>
              <a:t>: Extend the application to recommend asset allocation, portfolio diversification, and rebalancing strategies based on user-defined investment objectives and risk tolerance.</a:t>
            </a:r>
          </a:p>
          <a:p>
            <a:pPr algn="just"/>
            <a:r>
              <a:rPr lang="en-US" sz="1600" dirty="0"/>
              <a:t>5. </a:t>
            </a:r>
            <a:r>
              <a:rPr lang="en-US" sz="1600" b="1" dirty="0"/>
              <a:t>Global Market Integration</a:t>
            </a:r>
            <a:r>
              <a:rPr lang="en-US" sz="1600" dirty="0"/>
              <a:t>: Expand the system to support international stock exchanges, multiple currencies, global financial reports, and cross-market comparisons.</a:t>
            </a:r>
          </a:p>
          <a:p>
            <a:pPr algn="just"/>
            <a:r>
              <a:rPr lang="en-US" sz="1600" dirty="0"/>
              <a:t>6. </a:t>
            </a:r>
            <a:r>
              <a:rPr lang="en-US" sz="1600" b="1" dirty="0"/>
              <a:t>Voice-Based Investment Assistant</a:t>
            </a:r>
            <a:r>
              <a:rPr lang="en-US" sz="1600" dirty="0"/>
              <a:t>: Integrate speech recognition and text-to-speech capabilities to enable users to interact with the AI investment assistant through voice commands.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6699027" y="4338208"/>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DD7E3957-AD85-4F76-9823-F0046DA69EB3}"/>
              </a:ext>
            </a:extLst>
          </p:cNvPr>
          <p:cNvPicPr>
            <a:picLocks noChangeAspect="1"/>
          </p:cNvPicPr>
          <p:nvPr/>
        </p:nvPicPr>
        <p:blipFill>
          <a:blip r:embed="rId2"/>
          <a:stretch>
            <a:fillRect/>
          </a:stretch>
        </p:blipFill>
        <p:spPr>
          <a:xfrm>
            <a:off x="2009219" y="1627456"/>
            <a:ext cx="7267946" cy="481773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C3D5394C-236A-4054-9BCF-9637E43716CC}"/>
              </a:ext>
            </a:extLst>
          </p:cNvPr>
          <p:cNvPicPr>
            <a:picLocks noChangeAspect="1"/>
          </p:cNvPicPr>
          <p:nvPr/>
        </p:nvPicPr>
        <p:blipFill>
          <a:blip r:embed="rId2"/>
          <a:stretch>
            <a:fillRect/>
          </a:stretch>
        </p:blipFill>
        <p:spPr>
          <a:xfrm>
            <a:off x="2203745" y="1790040"/>
            <a:ext cx="7117808" cy="4672904"/>
          </a:xfrm>
          <a:prstGeom prst="rect">
            <a:avLst/>
          </a:prstGeom>
        </p:spPr>
      </p:pic>
    </p:spTree>
    <p:extLst>
      <p:ext uri="{BB962C8B-B14F-4D97-AF65-F5344CB8AC3E}">
        <p14:creationId xmlns:p14="http://schemas.microsoft.com/office/powerpoint/2010/main" val="42886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C1153703-C7DE-4E3F-A7DC-E936CDD6FD8F}"/>
              </a:ext>
            </a:extLst>
          </p:cNvPr>
          <p:cNvPicPr>
            <a:picLocks noChangeAspect="1"/>
          </p:cNvPicPr>
          <p:nvPr/>
        </p:nvPicPr>
        <p:blipFill>
          <a:blip r:embed="rId2"/>
          <a:stretch>
            <a:fillRect/>
          </a:stretch>
        </p:blipFill>
        <p:spPr>
          <a:xfrm>
            <a:off x="1750471" y="1695963"/>
            <a:ext cx="7864046" cy="4729368"/>
          </a:xfrm>
          <a:prstGeom prst="rect">
            <a:avLst/>
          </a:prstGeom>
        </p:spPr>
      </p:pic>
    </p:spTree>
    <p:extLst>
      <p:ext uri="{BB962C8B-B14F-4D97-AF65-F5344CB8AC3E}">
        <p14:creationId xmlns:p14="http://schemas.microsoft.com/office/powerpoint/2010/main" val="3804542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BA7EEE9A-9B70-4D83-992A-92A57513B045}"/>
              </a:ext>
            </a:extLst>
          </p:cNvPr>
          <p:cNvPicPr>
            <a:picLocks noChangeAspect="1"/>
          </p:cNvPicPr>
          <p:nvPr/>
        </p:nvPicPr>
        <p:blipFill>
          <a:blip r:embed="rId2"/>
          <a:stretch>
            <a:fillRect/>
          </a:stretch>
        </p:blipFill>
        <p:spPr>
          <a:xfrm>
            <a:off x="2396935" y="1477577"/>
            <a:ext cx="7398130" cy="469476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4" name="Picture 3">
            <a:extLst>
              <a:ext uri="{FF2B5EF4-FFF2-40B4-BE49-F238E27FC236}">
                <a16:creationId xmlns:a16="http://schemas.microsoft.com/office/drawing/2014/main" id="{23FF4661-D5AF-4C50-8531-90C6092ED0FF}"/>
              </a:ext>
            </a:extLst>
          </p:cNvPr>
          <p:cNvPicPr>
            <a:picLocks noChangeAspect="1"/>
          </p:cNvPicPr>
          <p:nvPr/>
        </p:nvPicPr>
        <p:blipFill>
          <a:blip r:embed="rId2"/>
          <a:stretch>
            <a:fillRect/>
          </a:stretch>
        </p:blipFill>
        <p:spPr>
          <a:xfrm>
            <a:off x="1910269" y="1967849"/>
            <a:ext cx="7677614" cy="4299786"/>
          </a:xfrm>
          <a:prstGeom prst="rect">
            <a:avLst/>
          </a:prstGeom>
        </p:spPr>
      </p:pic>
    </p:spTree>
    <p:extLst>
      <p:ext uri="{BB962C8B-B14F-4D97-AF65-F5344CB8AC3E}">
        <p14:creationId xmlns:p14="http://schemas.microsoft.com/office/powerpoint/2010/main" val="4227804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4" name="Picture 3">
            <a:extLst>
              <a:ext uri="{FF2B5EF4-FFF2-40B4-BE49-F238E27FC236}">
                <a16:creationId xmlns:a16="http://schemas.microsoft.com/office/drawing/2014/main" id="{A46C5A0A-CDF8-496A-8181-9E838374ACED}"/>
              </a:ext>
            </a:extLst>
          </p:cNvPr>
          <p:cNvPicPr>
            <a:picLocks noChangeAspect="1"/>
          </p:cNvPicPr>
          <p:nvPr/>
        </p:nvPicPr>
        <p:blipFill>
          <a:blip r:embed="rId2"/>
          <a:stretch>
            <a:fillRect/>
          </a:stretch>
        </p:blipFill>
        <p:spPr>
          <a:xfrm>
            <a:off x="1467178" y="1376134"/>
            <a:ext cx="8679997" cy="4924718"/>
          </a:xfrm>
          <a:prstGeom prst="rect">
            <a:avLst/>
          </a:prstGeom>
        </p:spPr>
      </p:pic>
    </p:spTree>
    <p:extLst>
      <p:ext uri="{BB962C8B-B14F-4D97-AF65-F5344CB8AC3E}">
        <p14:creationId xmlns:p14="http://schemas.microsoft.com/office/powerpoint/2010/main" val="2334256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1633</Words>
  <Application>Microsoft Office PowerPoint</Application>
  <PresentationFormat>Widescreen</PresentationFormat>
  <Paragraphs>198</Paragraphs>
  <Slides>29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Bharti Sahu</cp:lastModifiedBy>
  <cp:revision>20</cp:revision>
  <dcterms:created xsi:type="dcterms:W3CDTF">2025-07-08T05:06:56Z</dcterms:created>
  <dcterms:modified xsi:type="dcterms:W3CDTF">2026-10-30T06:46:05Z</dcterms:modified>
</cp:coreProperties>
</file>